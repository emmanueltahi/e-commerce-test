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Crimson Pro Semi Bold"/>
      <p:regular r:id="rId17"/>
    </p:embeddedFont>
    <p:embeddedFont>
      <p:font typeface="Crimson Pro Semi Bold"/>
      <p:regular r:id="rId18"/>
    </p:embeddedFont>
    <p:embeddedFont>
      <p:font typeface="Crimson Pro Semi Bold"/>
      <p:regular r:id="rId19"/>
    </p:embeddedFont>
    <p:embeddedFont>
      <p:font typeface="Crimson Pro Semi Bold"/>
      <p:regular r:id="rId20"/>
    </p:embeddedFont>
    <p:embeddedFont>
      <p:font typeface="Heebo"/>
      <p:regular r:id="rId21"/>
    </p:embeddedFont>
    <p:embeddedFont>
      <p:font typeface="Heebo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186351"/>
            <a:ext cx="57628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Audit Technique et Tests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85855"/>
            <a:ext cx="37142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Plateforme e-commerce Django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68034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Validation fonctionnelle et analyse de robustesse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32341"/>
            <a:ext cx="60396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Vue d'ensemble de l'audit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188535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Date 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13 novembre 2025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245233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Auditeur 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Ouattara Abdel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301930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Version 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4.1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3586282"/>
            <a:ext cx="350150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Suite complète de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31 tests automatisés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exécutés pour évaluer la robustesse de l'application Django. Tests classifiés en deux catégories : Unitaires et Intégration.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342721" y="2049780"/>
            <a:ext cx="350150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31</a:t>
            </a:r>
            <a:endParaRPr lang="en-US" sz="5850" dirty="0"/>
          </a:p>
        </p:txBody>
      </p:sp>
      <p:sp>
        <p:nvSpPr>
          <p:cNvPr id="9" name="Text 6"/>
          <p:cNvSpPr/>
          <p:nvPr/>
        </p:nvSpPr>
        <p:spPr>
          <a:xfrm>
            <a:off x="10675858" y="30815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Tests exécutés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342721" y="4002881"/>
            <a:ext cx="350150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24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675858" y="50346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Tests réussis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342721" y="5955983"/>
            <a:ext cx="350150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7</a:t>
            </a:r>
            <a:endParaRPr lang="en-US" sz="5850" dirty="0"/>
          </a:p>
        </p:txBody>
      </p:sp>
      <p:sp>
        <p:nvSpPr>
          <p:cNvPr id="13" name="Text 10"/>
          <p:cNvSpPr/>
          <p:nvPr/>
        </p:nvSpPr>
        <p:spPr>
          <a:xfrm>
            <a:off x="10675858" y="69877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Tests échoués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66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Résultats globaux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563422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77%</a:t>
            </a:r>
            <a:endParaRPr lang="en-US" sz="4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932" y="2145744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58315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Taux de réussite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32198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24 tests sur 31 validés avec succès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563422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100%</a:t>
            </a:r>
            <a:endParaRPr lang="en-US" sz="4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035" y="2145744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58315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Tests unitaires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32198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Tous les tests unitaires passent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563422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70%</a:t>
            </a:r>
            <a:endParaRPr lang="en-US" sz="4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138" y="2145744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58315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Tests d'intégration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32198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Majorité des tests d'intégration OK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93790" y="694003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L'architecture de base est solide : modèles de données, calculs, authentification et panier fonctionnent correctement.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722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Ce qui fonctionne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476732"/>
            <a:ext cx="61060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24 tests réussis confirment la solidité des fondations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2171224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1020604" y="239803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150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770" y="2585085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0604" y="33052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Modèles (8 tests)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0604" y="3795713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Création catégories, produits, clients, panier. Calculs de prix et remises validés.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428548" y="2171224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7655362" y="239803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150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2528" y="2585085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55362" y="33052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Vues (7 tests)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7655362" y="3795713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Pages d'accueil, produits, détails et panier se chargent. Redirections fonctionnelles.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793790" y="4975146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1020604" y="520196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150F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7770" y="5389007"/>
            <a:ext cx="306110" cy="306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20604" y="61092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Intégration (5 tests)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1020604" y="6599634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Navigation, filtres, recherche, avis et pagination opérationnels.</a:t>
            </a:r>
            <a:endParaRPr lang="en-US" sz="1750" dirty="0"/>
          </a:p>
        </p:txBody>
      </p:sp>
      <p:sp>
        <p:nvSpPr>
          <p:cNvPr id="19" name="Shape 14"/>
          <p:cNvSpPr/>
          <p:nvPr/>
        </p:nvSpPr>
        <p:spPr>
          <a:xfrm>
            <a:off x="7428548" y="4975146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F2EEEE"/>
          </a:solidFill>
          <a:ln/>
        </p:spPr>
      </p:sp>
      <p:sp>
        <p:nvSpPr>
          <p:cNvPr id="20" name="Shape 15"/>
          <p:cNvSpPr/>
          <p:nvPr/>
        </p:nvSpPr>
        <p:spPr>
          <a:xfrm>
            <a:off x="7655362" y="520196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150F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42528" y="5389007"/>
            <a:ext cx="306110" cy="3061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55362" y="61092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Régression (4 tests)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7655362" y="6599634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Connexion, déconnexion, ajout au panier et sécurité vendeur validés.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4819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Problèmes identifiés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9713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L'audit révèle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 bugs fonctionnels réels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 tests cassés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(faux négatifs) parmi les 7 échecs.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315188"/>
            <a:ext cx="4196358" cy="2101334"/>
          </a:xfrm>
          <a:prstGeom prst="roundRect">
            <a:avLst>
              <a:gd name="adj" fmla="val 6962"/>
            </a:avLst>
          </a:prstGeom>
          <a:solidFill>
            <a:srgbClr val="FFFFFF"/>
          </a:solidFill>
          <a:ln w="30480">
            <a:solidFill>
              <a:srgbClr val="FF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3310" y="5315188"/>
            <a:ext cx="121920" cy="2101334"/>
          </a:xfrm>
          <a:prstGeom prst="roundRect">
            <a:avLst>
              <a:gd name="adj" fmla="val 27907"/>
            </a:avLst>
          </a:prstGeom>
          <a:solidFill>
            <a:srgbClr val="FF0000"/>
          </a:solidFill>
          <a:ln/>
        </p:spPr>
      </p:sp>
      <p:sp>
        <p:nvSpPr>
          <p:cNvPr id="7" name="Text 4"/>
          <p:cNvSpPr/>
          <p:nvPr/>
        </p:nvSpPr>
        <p:spPr>
          <a:xfrm>
            <a:off x="1142524" y="5572482"/>
            <a:ext cx="2996208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🐞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Bug : Gestion du stock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42524" y="6070521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 vue checkout ne décrémente pas le Product.stock après un paiement réussi.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5315188"/>
            <a:ext cx="4196358" cy="2101334"/>
          </a:xfrm>
          <a:prstGeom prst="roundRect">
            <a:avLst>
              <a:gd name="adj" fmla="val 6962"/>
            </a:avLst>
          </a:prstGeom>
          <a:solidFill>
            <a:srgbClr val="FFFFFF"/>
          </a:solidFill>
          <a:ln w="30480">
            <a:solidFill>
              <a:srgbClr val="FF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86482" y="5315188"/>
            <a:ext cx="121920" cy="2101334"/>
          </a:xfrm>
          <a:prstGeom prst="roundRect">
            <a:avLst>
              <a:gd name="adj" fmla="val 27907"/>
            </a:avLst>
          </a:prstGeom>
          <a:solidFill>
            <a:srgbClr val="FF0000"/>
          </a:solidFill>
          <a:ln/>
        </p:spPr>
      </p:sp>
      <p:sp>
        <p:nvSpPr>
          <p:cNvPr id="11" name="Text 8"/>
          <p:cNvSpPr/>
          <p:nvPr/>
        </p:nvSpPr>
        <p:spPr>
          <a:xfrm>
            <a:off x="5565696" y="5572482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🐞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Bug : Lien vendeur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565696" y="6070521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 lien "Devenir Vendeur" reste visible même si l'utilisateur est déjà vendeur.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9640133" y="5315188"/>
            <a:ext cx="4196358" cy="2101334"/>
          </a:xfrm>
          <a:prstGeom prst="roundRect">
            <a:avLst>
              <a:gd name="adj" fmla="val 6962"/>
            </a:avLst>
          </a:prstGeom>
          <a:solidFill>
            <a:srgbClr val="FFFFFF"/>
          </a:solidFill>
          <a:ln w="30480">
            <a:solidFill>
              <a:srgbClr val="FFA5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609653" y="5315188"/>
            <a:ext cx="121920" cy="2101334"/>
          </a:xfrm>
          <a:prstGeom prst="roundRect">
            <a:avLst>
              <a:gd name="adj" fmla="val 27907"/>
            </a:avLst>
          </a:prstGeom>
          <a:solidFill>
            <a:srgbClr val="FFA500"/>
          </a:solidFill>
          <a:ln/>
        </p:spPr>
      </p:sp>
      <p:sp>
        <p:nvSpPr>
          <p:cNvPr id="15" name="Text 12"/>
          <p:cNvSpPr/>
          <p:nvPr/>
        </p:nvSpPr>
        <p:spPr>
          <a:xfrm>
            <a:off x="9988868" y="5572482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🔧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Tests cassés (5)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988868" y="6070521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Tests d'inscription et checkout non mis à jour pour refléter les flux de vérification email et paiement.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0809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Matrice de priorités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7050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Plan d'action classé par criticité pour le développeur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68855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043601"/>
            <a:ext cx="4196358" cy="3048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4217908"/>
            <a:ext cx="35483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P1 - Critique : Corriger le stock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708327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 vue checkout doit décrémenter Product.stock après paiement.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highlight>
                  <a:srgbClr val="2150FE"/>
                </a:highlight>
                <a:latin typeface="Heebo" pitchFamily="34" charset="0"/>
                <a:ea typeface="Heebo" pitchFamily="34" charset="-122"/>
                <a:cs typeface="Heebo" pitchFamily="34" charset="-120"/>
              </a:rPr>
              <a:t>Bug bloquant confirmé.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216962" y="368855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4043601"/>
            <a:ext cx="4196358" cy="3048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0" name="Text 8"/>
          <p:cNvSpPr/>
          <p:nvPr/>
        </p:nvSpPr>
        <p:spPr>
          <a:xfrm>
            <a:off x="5216962" y="4217908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P2 - Important : Masquer le lien vendeur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16962" y="5062657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Adapter base.html pour cacher href="/seller/register/" si l'utilisateur est vendeur.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640133" y="368855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4043601"/>
            <a:ext cx="4196358" cy="3048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4" name="Text 12"/>
          <p:cNvSpPr/>
          <p:nvPr/>
        </p:nvSpPr>
        <p:spPr>
          <a:xfrm>
            <a:off x="9640133" y="4217908"/>
            <a:ext cx="32892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P3 - Faible : Réparer les tests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40133" y="4708327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Mettre à jour 5 tests pour simuler vérification email et flux de paiement complet.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3212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Tests réussis détaillés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1078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Tests de Modèles (8)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268902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Création catégories et produits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313122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Calcul de remise validé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357342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Création clients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401562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Total panier correct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445781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Création commandes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50475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Tests de Vues (7)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93790" y="562868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Pages d'accueil et produits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93790" y="607087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Détails produit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651307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Panier authentifié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93790" y="695527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Redirections sécurisées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4856321" y="21078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Tests d'Intégration (5)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856321" y="268902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Navigation fluide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4856321" y="313122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Filtres de recherche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4856321" y="357342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Filtres par catégorie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4856321" y="401562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Ajout d'avis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4856321" y="445781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Pagination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4856321" y="50475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Tests de Régression (4)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4856321" y="562868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Connexion/déconnexion</a:t>
            </a:r>
            <a:endParaRPr lang="en-US" sz="1750" dirty="0"/>
          </a:p>
        </p:txBody>
      </p:sp>
      <p:sp>
        <p:nvSpPr>
          <p:cNvPr id="23" name="Text 20"/>
          <p:cNvSpPr/>
          <p:nvPr/>
        </p:nvSpPr>
        <p:spPr>
          <a:xfrm>
            <a:off x="4856321" y="607087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Ajout au panier BDD</a:t>
            </a:r>
            <a:endParaRPr lang="en-US" sz="1750" dirty="0"/>
          </a:p>
        </p:txBody>
      </p:sp>
      <p:sp>
        <p:nvSpPr>
          <p:cNvPr id="24" name="Text 21"/>
          <p:cNvSpPr/>
          <p:nvPr/>
        </p:nvSpPr>
        <p:spPr>
          <a:xfrm>
            <a:off x="4856321" y="651307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Sécurité vendeur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91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Tests échoués détaillés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21600"/>
            <a:ext cx="1134070" cy="18059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54674" y="25484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 Bugs Réels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154674" y="3038832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test_stock_decreases_after_checkout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: Stock non décrémenté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2154674" y="3537823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test_active_seller_link_is_hidden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: Lien vendeur visible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127540"/>
            <a:ext cx="1134070" cy="13608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54674" y="4354354"/>
            <a:ext cx="34741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 Tests Cassés (Faux Négatifs)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2154674" y="4844772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Tests d'inscription (2), checkout (2) et gestion vendeur (1) nécessitent mise à jour pour simuler flux complets.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793790" y="5743575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B3C3F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072426"/>
            <a:ext cx="283488" cy="22681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30906" y="6027063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Note importante 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Les tests cassés ne reflètent pas des bugs fonctionnels mais des tests obsolètes qui n'ont pas été adaptés aux nouveaux flux de vérification.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1322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Recommandations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507004" y="2402324"/>
            <a:ext cx="226814" cy="1020604"/>
          </a:xfrm>
          <a:prstGeom prst="roundRect">
            <a:avLst>
              <a:gd name="adj" fmla="val 15001"/>
            </a:avLst>
          </a:prstGeom>
          <a:solidFill>
            <a:srgbClr val="F2EEEE"/>
          </a:solidFill>
          <a:ln/>
        </p:spPr>
      </p:sp>
      <p:sp>
        <p:nvSpPr>
          <p:cNvPr id="5" name="Shape 2"/>
          <p:cNvSpPr/>
          <p:nvPr/>
        </p:nvSpPr>
        <p:spPr>
          <a:xfrm>
            <a:off x="6280190" y="2253496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F2EEE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50330" y="2423636"/>
            <a:ext cx="340162" cy="3401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87446" y="22889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Action immédiate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187446" y="2779395"/>
            <a:ext cx="664916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Correction des 2 bugs réels est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bloquante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pour la production.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6847165" y="3990023"/>
            <a:ext cx="226814" cy="1329571"/>
          </a:xfrm>
          <a:prstGeom prst="roundRect">
            <a:avLst>
              <a:gd name="adj" fmla="val 15001"/>
            </a:avLst>
          </a:prstGeom>
          <a:solidFill>
            <a:srgbClr val="F2EEEE"/>
          </a:solidFill>
          <a:ln/>
        </p:spPr>
      </p:sp>
      <p:sp>
        <p:nvSpPr>
          <p:cNvPr id="10" name="Shape 6"/>
          <p:cNvSpPr/>
          <p:nvPr/>
        </p:nvSpPr>
        <p:spPr>
          <a:xfrm>
            <a:off x="6620351" y="3841194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F2EEEE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0492" y="4011335"/>
            <a:ext cx="340162" cy="3401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27608" y="38766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Fiabilité CI/CD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7527608" y="4367093"/>
            <a:ext cx="630900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Réparation des 5 tests cassés critique pour l'intégration continue.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7187446" y="5886688"/>
            <a:ext cx="226814" cy="1329571"/>
          </a:xfrm>
          <a:prstGeom prst="roundRect">
            <a:avLst>
              <a:gd name="adj" fmla="val 15001"/>
            </a:avLst>
          </a:prstGeom>
          <a:solidFill>
            <a:srgbClr val="F2EEEE"/>
          </a:solidFill>
          <a:ln/>
        </p:spPr>
      </p:sp>
      <p:sp>
        <p:nvSpPr>
          <p:cNvPr id="15" name="Shape 10"/>
          <p:cNvSpPr/>
          <p:nvPr/>
        </p:nvSpPr>
        <p:spPr>
          <a:xfrm>
            <a:off x="6960632" y="5737860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F2EEEE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30772" y="5908000"/>
            <a:ext cx="340162" cy="34016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867888" y="57733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Déploiement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867888" y="6263759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Après corrections, l'application sera prête pour production avec 100% de tests validés.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45438"/>
            <a:ext cx="7556421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Conclusion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793790" y="240327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L'architecture de l'application est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saine et robuste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Les 24 tests réussis confirment que les fondations sont solides.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3384232"/>
            <a:ext cx="3664744" cy="2040374"/>
          </a:xfrm>
          <a:prstGeom prst="roundRect">
            <a:avLst>
              <a:gd name="adj" fmla="val 1668"/>
            </a:avLst>
          </a:prstGeom>
          <a:solidFill>
            <a:srgbClr val="2150FE"/>
          </a:solidFill>
          <a:ln/>
        </p:spPr>
      </p:sp>
      <p:sp>
        <p:nvSpPr>
          <p:cNvPr id="6" name="Text 3"/>
          <p:cNvSpPr/>
          <p:nvPr/>
        </p:nvSpPr>
        <p:spPr>
          <a:xfrm>
            <a:off x="1020604" y="3611047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✅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Base solide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109085"/>
            <a:ext cx="3211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Modèles, navigation et fonctionnalités de base opérationnels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348" y="3384232"/>
            <a:ext cx="3664863" cy="2040374"/>
          </a:xfrm>
          <a:prstGeom prst="roundRect">
            <a:avLst>
              <a:gd name="adj" fmla="val 1668"/>
            </a:avLst>
          </a:prstGeom>
          <a:solidFill>
            <a:srgbClr val="2150FE"/>
          </a:solidFill>
          <a:ln/>
        </p:spPr>
      </p:sp>
      <p:sp>
        <p:nvSpPr>
          <p:cNvPr id="9" name="Text 6"/>
          <p:cNvSpPr/>
          <p:nvPr/>
        </p:nvSpPr>
        <p:spPr>
          <a:xfrm>
            <a:off x="4912162" y="3611047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🔧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Corrections ciblées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912162" y="4109085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 bugs réels + 5 tests à mettre à jour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93790" y="5651421"/>
            <a:ext cx="7556421" cy="1314569"/>
          </a:xfrm>
          <a:prstGeom prst="roundRect">
            <a:avLst>
              <a:gd name="adj" fmla="val 2588"/>
            </a:avLst>
          </a:prstGeom>
          <a:solidFill>
            <a:srgbClr val="2150FE"/>
          </a:solidFill>
          <a:ln/>
        </p:spPr>
      </p:sp>
      <p:sp>
        <p:nvSpPr>
          <p:cNvPr id="12" name="Text 9"/>
          <p:cNvSpPr/>
          <p:nvPr/>
        </p:nvSpPr>
        <p:spPr>
          <a:xfrm>
            <a:off x="1020604" y="5878235"/>
            <a:ext cx="2876193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🚀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Prêt pour production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20604" y="6376273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Après corrections, plateforme prête au déploiement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93790" y="722114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Temps d'exécution des tests : 11.52 secondes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2025-11-13T11:39:26Z</dcterms:created>
  <dcterms:modified xsi:type="dcterms:W3CDTF">2025-11-13T11:39:26Z</dcterms:modified>
</cp:coreProperties>
</file>