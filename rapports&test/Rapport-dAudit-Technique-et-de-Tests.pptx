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Crimson Pro Semi Bold"/>
      <p:regular r:id="rId17"/>
    </p:embeddedFont>
    <p:embeddedFont>
      <p:font typeface="Crimson Pro Semi Bold"/>
      <p:regular r:id="rId18"/>
    </p:embeddedFont>
    <p:embeddedFont>
      <p:font typeface="Crimson Pro Semi Bold"/>
      <p:regular r:id="rId19"/>
    </p:embeddedFont>
    <p:embeddedFont>
      <p:font typeface="Crimson Pro Semi Bold"/>
      <p:regular r:id="rId20"/>
    </p:embeddedFont>
    <p:embeddedFont>
      <p:font typeface="Heebo"/>
      <p:regular r:id="rId21"/>
    </p:embeddedFont>
    <p:embeddedFont>
      <p:font typeface="Heebo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slideLayout" Target="../slideLayouts/slideLayout10.xml"/><Relationship Id="rId1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hyperlink" Target="mailto:abdel.ouattara@projet.com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8" Type="http://schemas.openxmlformats.org/officeDocument/2006/relationships/slideLayout" Target="../slideLayouts/slideLayout1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100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Rapport d'Audit Technique et de Tests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26779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Application E-Commerce Django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Date : 10 novembre 2025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Auditeur : Ouattara Abdel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Version : 2.0 (Extension détaillée)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702" y="676751"/>
            <a:ext cx="4769763" cy="596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Synthèse Exécutive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667702" y="1749742"/>
            <a:ext cx="2861786" cy="357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Objectif de l'audit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667702" y="2298263"/>
            <a:ext cx="5038725" cy="915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Évaluation exhaustive de la robustesse technique, de la couverture de test et de la conformité fonctionnelle de l'application e-commerce Django 5.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67702" y="3385423"/>
            <a:ext cx="5038725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Durée : 5 jours (5-10 novembre 2025)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67702" y="3862268"/>
            <a:ext cx="5038725" cy="61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Cible : Plateforme multi-utilisateurs (acheteurs et vendeurs) pour produits diversifiés.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9344" y="1773555"/>
            <a:ext cx="2286000" cy="2286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67702" y="4858822"/>
            <a:ext cx="6552128" cy="1404223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858441" y="5049560"/>
            <a:ext cx="2384822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✅</a:t>
            </a:r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Base Solide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58441" y="5461992"/>
            <a:ext cx="6170652" cy="61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Architecture MVC propre, interface Bootstrap 5 responsive, gestion panier structurée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410569" y="4858822"/>
            <a:ext cx="6552128" cy="1404223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7601307" y="5049560"/>
            <a:ext cx="2384822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⚠️</a:t>
            </a:r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Anomalies Critiques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7601307" y="5461992"/>
            <a:ext cx="6170652" cy="61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Risque de survente, incohérences en base de données compromettant l'intégrité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67702" y="6453783"/>
            <a:ext cx="6552128" cy="1099066"/>
          </a:xfrm>
          <a:prstGeom prst="roundRect">
            <a:avLst>
              <a:gd name="adj" fmla="val 2604"/>
            </a:avLst>
          </a:prstGeom>
          <a:solidFill>
            <a:srgbClr val="F2EEEE"/>
          </a:solidFill>
          <a:ln/>
        </p:spPr>
      </p:sp>
      <p:sp>
        <p:nvSpPr>
          <p:cNvPr id="15" name="Text 12"/>
          <p:cNvSpPr/>
          <p:nvPr/>
        </p:nvSpPr>
        <p:spPr>
          <a:xfrm>
            <a:off x="858441" y="6644521"/>
            <a:ext cx="2384822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🧪</a:t>
            </a:r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Couverture 75%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858441" y="7056953"/>
            <a:ext cx="6170652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45 tests exécutés, focus insuffisant sur les flux critiques de commande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410569" y="6453783"/>
            <a:ext cx="6552128" cy="1099066"/>
          </a:xfrm>
          <a:prstGeom prst="roundRect">
            <a:avLst>
              <a:gd name="adj" fmla="val 2604"/>
            </a:avLst>
          </a:prstGeom>
          <a:solidFill>
            <a:srgbClr val="F2EEEE"/>
          </a:solidFill>
          <a:ln/>
        </p:spPr>
      </p:sp>
      <p:sp>
        <p:nvSpPr>
          <p:cNvPr id="18" name="Text 15"/>
          <p:cNvSpPr/>
          <p:nvPr/>
        </p:nvSpPr>
        <p:spPr>
          <a:xfrm>
            <a:off x="7601307" y="6644521"/>
            <a:ext cx="6170652" cy="61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Recommandation immédiate :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Prioriser les corrections critiques avant staging. Coût estimé : 2-3 jours de développement.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7210" y="422077"/>
            <a:ext cx="5134689" cy="479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Analyse des Anomalies Critiques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7210" y="1208603"/>
            <a:ext cx="13555980" cy="245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Les anomalies ont été détectées via exploration manuelle (Chrome incognito) et scripts automatisés pytest. Classification par impact et priorité 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37210" y="1626751"/>
            <a:ext cx="13555980" cy="1604963"/>
          </a:xfrm>
          <a:prstGeom prst="roundRect">
            <a:avLst>
              <a:gd name="adj" fmla="val 1435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0070" y="1649611"/>
            <a:ext cx="613886" cy="1559243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751880" y="2285286"/>
            <a:ext cx="230148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7428" y="1803083"/>
            <a:ext cx="2380893" cy="239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Non-décrémentation du stock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7428" y="2134791"/>
            <a:ext cx="12589431" cy="245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Impact :</a:t>
            </a:r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Survente potentielle, pertes financières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7428" y="2472333"/>
            <a:ext cx="12589431" cy="245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Reproduction :</a:t>
            </a:r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Commander 3 unités (stock=5) → stock reste inchangé → permet commandes en rupture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7428" y="2809875"/>
            <a:ext cx="12589431" cy="245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F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Priorité BLOQUANTE</a:t>
            </a:r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• 100% des commandes impactées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7210" y="3385185"/>
            <a:ext cx="13555980" cy="1604963"/>
          </a:xfrm>
          <a:prstGeom prst="roundRect">
            <a:avLst>
              <a:gd name="adj" fmla="val 1435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0070" y="3408045"/>
            <a:ext cx="613886" cy="1559243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751880" y="4043720"/>
            <a:ext cx="230148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7428" y="3561517"/>
            <a:ext cx="2652832" cy="239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Verrouillage concurrentiel absent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7428" y="3893225"/>
            <a:ext cx="12589431" cy="245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Impact :</a:t>
            </a:r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Sur-réservation, stock négatif sous charge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27428" y="4230767"/>
            <a:ext cx="12589431" cy="245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Reproduction :</a:t>
            </a:r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2 sessions simultanées réservent le dernier article → stock devient négatif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27428" y="4568309"/>
            <a:ext cx="12589431" cy="245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F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Priorité BLOQUANTE</a:t>
            </a:r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• Critique en production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7210" y="5143619"/>
            <a:ext cx="13555980" cy="1604963"/>
          </a:xfrm>
          <a:prstGeom prst="roundRect">
            <a:avLst>
              <a:gd name="adj" fmla="val 1435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0070" y="5166479"/>
            <a:ext cx="613886" cy="1559243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20" name="Text 18"/>
          <p:cNvSpPr/>
          <p:nvPr/>
        </p:nvSpPr>
        <p:spPr>
          <a:xfrm>
            <a:off x="751880" y="5802154"/>
            <a:ext cx="230148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27428" y="5319951"/>
            <a:ext cx="2323981" cy="239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Incohérence profil utilisateur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27428" y="5651659"/>
            <a:ext cx="12589431" cy="245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Impact :</a:t>
            </a:r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Commandes incomplètes, retards logistiques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27428" y="5989201"/>
            <a:ext cx="12589431" cy="245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Reproduction :</a:t>
            </a:r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Inscription sans adresse → checkout accepte commande sans validation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27428" y="6326743"/>
            <a:ext cx="12589431" cy="245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FA5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Priorité MOYENNE</a:t>
            </a:r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• 40% nouveaux utilisateurs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37210" y="6902053"/>
            <a:ext cx="13555980" cy="920829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0070" y="6924913"/>
            <a:ext cx="613886" cy="875109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27" name="Text 25"/>
          <p:cNvSpPr/>
          <p:nvPr/>
        </p:nvSpPr>
        <p:spPr>
          <a:xfrm>
            <a:off x="751880" y="7218521"/>
            <a:ext cx="230148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27428" y="7078385"/>
            <a:ext cx="12589431" cy="245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Toutes les anomalies tracées dans Jira pour suivi détaillé et assignation d'équipe.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869" y="691872"/>
            <a:ext cx="6583799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Matrice des Risques et Mitigation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666869" y="1668304"/>
            <a:ext cx="1329666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Évaluation sur échelle probabiliste avec stratégies de mitigation concrètes et responsables assignés 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66869" y="2187416"/>
            <a:ext cx="13296662" cy="4831080"/>
          </a:xfrm>
          <a:prstGeom prst="roundRect">
            <a:avLst>
              <a:gd name="adj" fmla="val 59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4489" y="2195036"/>
            <a:ext cx="13281422" cy="54864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65227" y="2316956"/>
            <a:ext cx="293548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Risque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89333" y="2316956"/>
            <a:ext cx="160353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Probabilité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81487" y="2316956"/>
            <a:ext cx="160353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Impact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73641" y="2316956"/>
            <a:ext cx="359580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Stratégie de Mitigation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158067" y="2316956"/>
            <a:ext cx="160734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Délai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74489" y="2743676"/>
            <a:ext cx="13281422" cy="85344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65227" y="2865596"/>
            <a:ext cx="293548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Gestion stocks invalide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89333" y="2865596"/>
            <a:ext cx="160353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Élevée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81487" y="2865596"/>
            <a:ext cx="160353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Critique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73641" y="2865596"/>
            <a:ext cx="359580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Transaction atomique avec SELECT FOR UPDATE, décrémentation correcte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158067" y="2865596"/>
            <a:ext cx="160734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 jour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74489" y="3597116"/>
            <a:ext cx="13281422" cy="85344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65227" y="3719036"/>
            <a:ext cx="293548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Faille sécurité paiement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189333" y="3719036"/>
            <a:ext cx="160353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Moyenne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81487" y="3719036"/>
            <a:ext cx="160353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Critique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73641" y="3719036"/>
            <a:ext cx="359580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Intégrer Stripe/PayPal avec webhooks, audit tokens CSRF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158067" y="3719036"/>
            <a:ext cx="160734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 jours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74489" y="4450556"/>
            <a:ext cx="13281422" cy="85344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865227" y="4572476"/>
            <a:ext cx="293548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Incohérence données profil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189333" y="4572476"/>
            <a:ext cx="160353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Élevée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181487" y="4572476"/>
            <a:ext cx="160353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A5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Moyenne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173641" y="4572476"/>
            <a:ext cx="359580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Sauvegarde atomique User/Customer, validation Form required=True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158067" y="4572476"/>
            <a:ext cx="160734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 jours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74489" y="5303996"/>
            <a:ext cx="13281422" cy="85344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65227" y="5425916"/>
            <a:ext cx="293548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Performance sous charge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189333" y="5425916"/>
            <a:ext cx="160353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Moyenne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181487" y="5425916"/>
            <a:ext cx="160353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A5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Élevée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173641" y="5425916"/>
            <a:ext cx="359580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Optimisation requêtes select_related, cache Redis, test Locust 1000 req/s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2158067" y="5425916"/>
            <a:ext cx="160734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 semaine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74489" y="6157436"/>
            <a:ext cx="13281422" cy="85344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65227" y="6279356"/>
            <a:ext cx="293548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Promotions incomplètes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189333" y="6279356"/>
            <a:ext cx="160353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Élevée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181487" y="6279356"/>
            <a:ext cx="160353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A5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Moyenne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173641" y="6279356"/>
            <a:ext cx="359580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Validation PromoCodeForm avec messages contextuels, tests unitaires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2158067" y="6279356"/>
            <a:ext cx="160734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 jours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66869" y="7232809"/>
            <a:ext cx="1329666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Score de risque global :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7/10 (moyen-élevé). Ré-évaluation prévue dans 1 semaine post-corrections.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846" y="530304"/>
            <a:ext cx="5221605" cy="602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Plan de Test et Couverture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674846" y="1614845"/>
            <a:ext cx="2892623" cy="36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Répartition des tests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674846" y="2169200"/>
            <a:ext cx="640508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Tests exécutés via </a:t>
            </a:r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pytest 8.0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et </a:t>
            </a:r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django.test.TestCase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avec coverage.py pour mesure de couverture (cible : &gt;90%).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74846" y="2959894"/>
            <a:ext cx="6405086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Total :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18 tests étendus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74846" y="3441978"/>
            <a:ext cx="6405086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Tests Unitaires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(9) : Modèles, formes, utilitaires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4846" y="3817977"/>
            <a:ext cx="6405086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Tests d'Intégration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(6) : API, DB, sessions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4846" y="4193977"/>
            <a:ext cx="6405086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Tests Fonctionnels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(3) : Simulation navigateur Selenium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4846" y="4676061"/>
            <a:ext cx="6405086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Temps total d'exécution : </a:t>
            </a:r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45 secondes</a:t>
            </a:r>
            <a:endParaRPr lang="en-US" sz="15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8088" y="1639014"/>
            <a:ext cx="6405086" cy="3363397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047553" y="5032891"/>
            <a:ext cx="192762" cy="192762"/>
          </a:xfrm>
          <a:prstGeom prst="roundRect">
            <a:avLst>
              <a:gd name="adj" fmla="val 9487"/>
            </a:avLst>
          </a:prstGeom>
          <a:solidFill>
            <a:srgbClr val="00104C"/>
          </a:solidFill>
          <a:ln/>
        </p:spPr>
      </p:sp>
      <p:sp>
        <p:nvSpPr>
          <p:cNvPr id="12" name="Text 9"/>
          <p:cNvSpPr/>
          <p:nvPr/>
        </p:nvSpPr>
        <p:spPr>
          <a:xfrm>
            <a:off x="8301276" y="5032891"/>
            <a:ext cx="129016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Tests Unitaires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906238" y="5032891"/>
            <a:ext cx="192762" cy="192762"/>
          </a:xfrm>
          <a:prstGeom prst="roundRect">
            <a:avLst>
              <a:gd name="adj" fmla="val 9487"/>
            </a:avLst>
          </a:prstGeom>
          <a:solidFill>
            <a:srgbClr val="012DCE"/>
          </a:solidFill>
          <a:ln/>
        </p:spPr>
      </p:sp>
      <p:sp>
        <p:nvSpPr>
          <p:cNvPr id="14" name="Text 11"/>
          <p:cNvSpPr/>
          <p:nvPr/>
        </p:nvSpPr>
        <p:spPr>
          <a:xfrm>
            <a:off x="10159960" y="5032891"/>
            <a:ext cx="145494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Tests Intégration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1929705" y="5032891"/>
            <a:ext cx="192762" cy="192762"/>
          </a:xfrm>
          <a:prstGeom prst="roundRect">
            <a:avLst>
              <a:gd name="adj" fmla="val 9487"/>
            </a:avLst>
          </a:prstGeom>
          <a:solidFill>
            <a:srgbClr val="5478FE"/>
          </a:solidFill>
          <a:ln/>
        </p:spPr>
      </p:sp>
      <p:sp>
        <p:nvSpPr>
          <p:cNvPr id="16" name="Text 13"/>
          <p:cNvSpPr/>
          <p:nvPr/>
        </p:nvSpPr>
        <p:spPr>
          <a:xfrm>
            <a:off x="12183427" y="5032891"/>
            <a:ext cx="163210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Tests Fonctionnels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74846" y="5755958"/>
            <a:ext cx="3139440" cy="636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000"/>
              </a:lnSpc>
              <a:buNone/>
            </a:pPr>
            <a:r>
              <a:rPr lang="en-US" sz="5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15</a:t>
            </a:r>
            <a:endParaRPr lang="en-US" sz="5000" dirty="0"/>
          </a:p>
        </p:txBody>
      </p:sp>
      <p:sp>
        <p:nvSpPr>
          <p:cNvPr id="18" name="Text 15"/>
          <p:cNvSpPr/>
          <p:nvPr/>
        </p:nvSpPr>
        <p:spPr>
          <a:xfrm>
            <a:off x="1039297" y="6633091"/>
            <a:ext cx="2410539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Tests Réussis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674846" y="7050048"/>
            <a:ext cx="313944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Sur 18 tests exécutés au total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055269" y="5755958"/>
            <a:ext cx="3139440" cy="636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000"/>
              </a:lnSpc>
              <a:buNone/>
            </a:pPr>
            <a:r>
              <a:rPr lang="en-US" sz="5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5000" dirty="0"/>
          </a:p>
        </p:txBody>
      </p:sp>
      <p:sp>
        <p:nvSpPr>
          <p:cNvPr id="21" name="Text 18"/>
          <p:cNvSpPr/>
          <p:nvPr/>
        </p:nvSpPr>
        <p:spPr>
          <a:xfrm>
            <a:off x="4419719" y="6633091"/>
            <a:ext cx="2410539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Tests Échoués</a:t>
            </a:r>
            <a:endParaRPr lang="en-US" sz="1850" dirty="0"/>
          </a:p>
        </p:txBody>
      </p:sp>
      <p:sp>
        <p:nvSpPr>
          <p:cNvPr id="22" name="Text 19"/>
          <p:cNvSpPr/>
          <p:nvPr/>
        </p:nvSpPr>
        <p:spPr>
          <a:xfrm>
            <a:off x="4055269" y="7050048"/>
            <a:ext cx="313944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Dont 2 critiques sur flux commande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435691" y="5755958"/>
            <a:ext cx="3139440" cy="636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000"/>
              </a:lnSpc>
              <a:buNone/>
            </a:pPr>
            <a:r>
              <a:rPr lang="en-US" sz="5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75%</a:t>
            </a:r>
            <a:endParaRPr lang="en-US" sz="5000" dirty="0"/>
          </a:p>
        </p:txBody>
      </p:sp>
      <p:sp>
        <p:nvSpPr>
          <p:cNvPr id="24" name="Text 21"/>
          <p:cNvSpPr/>
          <p:nvPr/>
        </p:nvSpPr>
        <p:spPr>
          <a:xfrm>
            <a:off x="7800142" y="6633091"/>
            <a:ext cx="2410539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Couverture Globale</a:t>
            </a:r>
            <a:endParaRPr lang="en-US" sz="1850" dirty="0"/>
          </a:p>
        </p:txBody>
      </p:sp>
      <p:sp>
        <p:nvSpPr>
          <p:cNvPr id="25" name="Text 22"/>
          <p:cNvSpPr/>
          <p:nvPr/>
        </p:nvSpPr>
        <p:spPr>
          <a:xfrm>
            <a:off x="7435691" y="7050048"/>
            <a:ext cx="313944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Objectif : atteindre 90% minimum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0816114" y="5755958"/>
            <a:ext cx="3139440" cy="636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000"/>
              </a:lnSpc>
              <a:buNone/>
            </a:pPr>
            <a:r>
              <a:rPr lang="en-US" sz="5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—</a:t>
            </a:r>
            <a:endParaRPr lang="en-US" sz="5000" dirty="0"/>
          </a:p>
        </p:txBody>
      </p:sp>
      <p:sp>
        <p:nvSpPr>
          <p:cNvPr id="27" name="Text 24"/>
          <p:cNvSpPr/>
          <p:nvPr/>
        </p:nvSpPr>
        <p:spPr>
          <a:xfrm>
            <a:off x="10816114" y="6633091"/>
            <a:ext cx="3139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Améliorations proposées :</a:t>
            </a:r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Ajouter tests de charge (Locust) et scans sécurité (Bandit pour analyse statique).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353" y="423743"/>
            <a:ext cx="6356866" cy="481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Implémentation des Tests : Extraits Clés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9353" y="966907"/>
            <a:ext cx="6218515" cy="28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Test d'intégration : Décrémentation du stock (ÉCHEC CRITIQUE)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39353" y="1486972"/>
            <a:ext cx="13551694" cy="3438049"/>
          </a:xfrm>
          <a:prstGeom prst="roundRect">
            <a:avLst>
              <a:gd name="adj" fmla="val 672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531733" y="1486972"/>
            <a:ext cx="13566934" cy="3438049"/>
          </a:xfrm>
          <a:prstGeom prst="roundRect">
            <a:avLst>
              <a:gd name="adj" fmla="val 672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02462"/>
            <a:ext cx="13258800" cy="3207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django.test import TestCase, Clientfrom django.db import transactionclass CheckoutIntegrationTest(TestCase):    @transaction.atomic    def test_stock_decreases_after_checkout(self):        response = self.client.post('/checkout/',                                     {'user_id': self.user.id})        self.product.refresh_from_db()        self.assertEqual(self.product.stock, 8)  # ÉCHEC        # Attendu : 10 - 2 = 8        # Résultat : reste à 10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9353" y="5098375"/>
            <a:ext cx="13551694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C4C4D"/>
                </a:solidFill>
                <a:highlight>
                  <a:srgbClr val="FFEB3B"/>
                </a:highlight>
                <a:latin typeface="Heebo" pitchFamily="34" charset="0"/>
                <a:ea typeface="Heebo" pitchFamily="34" charset="-122"/>
                <a:cs typeface="Heebo" pitchFamily="34" charset="-120"/>
              </a:rPr>
              <a:t>Analyse :</a:t>
            </a:r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Le signal post_save sur Order n'exécute pas product.stock -= order.quantity. Bug confirmé dans 10/10 essais.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9353" y="5576173"/>
            <a:ext cx="4335661" cy="28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Test unitaire : Cohérence du panier (SUCCÈS)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39353" y="6096238"/>
            <a:ext cx="13551694" cy="1711166"/>
          </a:xfrm>
          <a:prstGeom prst="roundRect">
            <a:avLst>
              <a:gd name="adj" fmla="val 1351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531733" y="6096238"/>
            <a:ext cx="13566934" cy="1711166"/>
          </a:xfrm>
          <a:prstGeom prst="roundRect">
            <a:avLst>
              <a:gd name="adj" fmla="val 1351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6211729"/>
            <a:ext cx="13258800" cy="1480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test_cart_total_calculation(self): cart = Cart.objects.create(user=self.user) cart.add_product(self.product, quantity=3) expected_total = self.product.price * 3 * 1.15 # TVA 15% self.assertEqual(cart.total_price(), expected_total) #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488" y="374452"/>
            <a:ext cx="4505444" cy="425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6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Résultats Détaillés par Domaine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76488" y="1072158"/>
            <a:ext cx="1367742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Les tests confirment une stabilité générale (85% de succès) mais révèlent des faiblesses sur les flux métier critiques :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76488" y="1511141"/>
            <a:ext cx="6330791" cy="170140"/>
          </a:xfrm>
          <a:prstGeom prst="roundRect">
            <a:avLst>
              <a:gd name="adj" fmla="val 12005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476488" y="1511141"/>
            <a:ext cx="3798451" cy="170140"/>
          </a:xfrm>
          <a:prstGeom prst="roundRect">
            <a:avLst>
              <a:gd name="adj" fmla="val 12005"/>
            </a:avLst>
          </a:prstGeom>
          <a:solidFill>
            <a:srgbClr val="2150FE"/>
          </a:solidFill>
          <a:ln/>
        </p:spPr>
      </p:sp>
      <p:sp>
        <p:nvSpPr>
          <p:cNvPr id="6" name="Text 4"/>
          <p:cNvSpPr/>
          <p:nvPr/>
        </p:nvSpPr>
        <p:spPr>
          <a:xfrm>
            <a:off x="6909316" y="1511141"/>
            <a:ext cx="320754" cy="170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60%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6488" y="1851303"/>
            <a:ext cx="1701998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Panier / Commande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6488" y="2145744"/>
            <a:ext cx="6753582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Stock non mis à jour, concurrence non gérée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00211" y="1511141"/>
            <a:ext cx="6259949" cy="170140"/>
          </a:xfrm>
          <a:prstGeom prst="roundRect">
            <a:avLst>
              <a:gd name="adj" fmla="val 12005"/>
            </a:avLst>
          </a:prstGeom>
          <a:solidFill>
            <a:srgbClr val="F2EEEE"/>
          </a:solidFill>
          <a:ln/>
        </p:spPr>
      </p:sp>
      <p:sp>
        <p:nvSpPr>
          <p:cNvPr id="10" name="Shape 8"/>
          <p:cNvSpPr/>
          <p:nvPr/>
        </p:nvSpPr>
        <p:spPr>
          <a:xfrm>
            <a:off x="7400211" y="1511141"/>
            <a:ext cx="6259949" cy="170140"/>
          </a:xfrm>
          <a:prstGeom prst="roundRect">
            <a:avLst>
              <a:gd name="adj" fmla="val 12005"/>
            </a:avLst>
          </a:prstGeom>
          <a:solidFill>
            <a:srgbClr val="2150FE"/>
          </a:solidFill>
          <a:ln/>
        </p:spPr>
      </p:sp>
      <p:sp>
        <p:nvSpPr>
          <p:cNvPr id="11" name="Text 9"/>
          <p:cNvSpPr/>
          <p:nvPr/>
        </p:nvSpPr>
        <p:spPr>
          <a:xfrm>
            <a:off x="13762196" y="1511141"/>
            <a:ext cx="391716" cy="170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100%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00211" y="1851303"/>
            <a:ext cx="1701998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Authentification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00211" y="2145744"/>
            <a:ext cx="675370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Fonctionnelle, incluant reset password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6488" y="2703909"/>
            <a:ext cx="6363414" cy="170140"/>
          </a:xfrm>
          <a:prstGeom prst="roundRect">
            <a:avLst>
              <a:gd name="adj" fmla="val 12005"/>
            </a:avLst>
          </a:prstGeom>
          <a:solidFill>
            <a:srgbClr val="F2EEEE"/>
          </a:solidFill>
          <a:ln/>
        </p:spPr>
      </p:sp>
      <p:sp>
        <p:nvSpPr>
          <p:cNvPr id="15" name="Shape 13"/>
          <p:cNvSpPr/>
          <p:nvPr/>
        </p:nvSpPr>
        <p:spPr>
          <a:xfrm>
            <a:off x="476488" y="2703909"/>
            <a:ext cx="4772501" cy="170140"/>
          </a:xfrm>
          <a:prstGeom prst="roundRect">
            <a:avLst>
              <a:gd name="adj" fmla="val 12005"/>
            </a:avLst>
          </a:prstGeom>
          <a:solidFill>
            <a:srgbClr val="2150FE"/>
          </a:solidFill>
          <a:ln/>
        </p:spPr>
      </p:sp>
      <p:sp>
        <p:nvSpPr>
          <p:cNvPr id="16" name="Text 14"/>
          <p:cNvSpPr/>
          <p:nvPr/>
        </p:nvSpPr>
        <p:spPr>
          <a:xfrm>
            <a:off x="6941939" y="2703909"/>
            <a:ext cx="288131" cy="170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75%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6488" y="3044071"/>
            <a:ext cx="1701998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UI / Templates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6488" y="3338513"/>
            <a:ext cx="6753582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Incohérences conditionnelles sur liens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00211" y="2703909"/>
            <a:ext cx="6325076" cy="170140"/>
          </a:xfrm>
          <a:prstGeom prst="roundRect">
            <a:avLst>
              <a:gd name="adj" fmla="val 12005"/>
            </a:avLst>
          </a:prstGeom>
          <a:solidFill>
            <a:srgbClr val="F2EEEE"/>
          </a:solidFill>
          <a:ln/>
        </p:spPr>
      </p:sp>
      <p:sp>
        <p:nvSpPr>
          <p:cNvPr id="20" name="Shape 18"/>
          <p:cNvSpPr/>
          <p:nvPr/>
        </p:nvSpPr>
        <p:spPr>
          <a:xfrm>
            <a:off x="7400211" y="2703909"/>
            <a:ext cx="5060037" cy="170140"/>
          </a:xfrm>
          <a:prstGeom prst="roundRect">
            <a:avLst>
              <a:gd name="adj" fmla="val 12005"/>
            </a:avLst>
          </a:prstGeom>
          <a:solidFill>
            <a:srgbClr val="2150FE"/>
          </a:solidFill>
          <a:ln/>
        </p:spPr>
      </p:sp>
      <p:sp>
        <p:nvSpPr>
          <p:cNvPr id="21" name="Text 19"/>
          <p:cNvSpPr/>
          <p:nvPr/>
        </p:nvSpPr>
        <p:spPr>
          <a:xfrm>
            <a:off x="13827323" y="2703909"/>
            <a:ext cx="326588" cy="170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80%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00211" y="3044071"/>
            <a:ext cx="1701998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Performances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00211" y="3338513"/>
            <a:ext cx="675370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Pics à 2s sur /shop/ avec 50 produits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6488" y="3896678"/>
            <a:ext cx="6259830" cy="170140"/>
          </a:xfrm>
          <a:prstGeom prst="roundRect">
            <a:avLst>
              <a:gd name="adj" fmla="val 12005"/>
            </a:avLst>
          </a:prstGeom>
          <a:solidFill>
            <a:srgbClr val="F2EEEE"/>
          </a:solidFill>
          <a:ln/>
        </p:spPr>
      </p:sp>
      <p:sp>
        <p:nvSpPr>
          <p:cNvPr id="25" name="Shape 23"/>
          <p:cNvSpPr/>
          <p:nvPr/>
        </p:nvSpPr>
        <p:spPr>
          <a:xfrm>
            <a:off x="476488" y="3896678"/>
            <a:ext cx="6259830" cy="170140"/>
          </a:xfrm>
          <a:prstGeom prst="roundRect">
            <a:avLst>
              <a:gd name="adj" fmla="val 12005"/>
            </a:avLst>
          </a:prstGeom>
          <a:solidFill>
            <a:srgbClr val="2150FE"/>
          </a:solidFill>
          <a:ln/>
        </p:spPr>
      </p:sp>
      <p:sp>
        <p:nvSpPr>
          <p:cNvPr id="26" name="Text 24"/>
          <p:cNvSpPr/>
          <p:nvPr/>
        </p:nvSpPr>
        <p:spPr>
          <a:xfrm>
            <a:off x="6838355" y="3896678"/>
            <a:ext cx="391716" cy="170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100%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6488" y="4236839"/>
            <a:ext cx="1701998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Sécurité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6488" y="4531281"/>
            <a:ext cx="6753582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Pas de faille détectée, CSRF validé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400211" y="3896678"/>
            <a:ext cx="6339364" cy="170140"/>
          </a:xfrm>
          <a:prstGeom prst="roundRect">
            <a:avLst>
              <a:gd name="adj" fmla="val 12005"/>
            </a:avLst>
          </a:prstGeom>
          <a:solidFill>
            <a:srgbClr val="F2EEEE"/>
          </a:solidFill>
          <a:ln/>
        </p:spPr>
      </p:sp>
      <p:sp>
        <p:nvSpPr>
          <p:cNvPr id="30" name="Shape 28"/>
          <p:cNvSpPr/>
          <p:nvPr/>
        </p:nvSpPr>
        <p:spPr>
          <a:xfrm>
            <a:off x="7400211" y="3896678"/>
            <a:ext cx="3169682" cy="170140"/>
          </a:xfrm>
          <a:prstGeom prst="roundRect">
            <a:avLst>
              <a:gd name="adj" fmla="val 12005"/>
            </a:avLst>
          </a:prstGeom>
          <a:solidFill>
            <a:srgbClr val="2150FE"/>
          </a:solidFill>
          <a:ln/>
        </p:spPr>
      </p:sp>
      <p:sp>
        <p:nvSpPr>
          <p:cNvPr id="31" name="Text 29"/>
          <p:cNvSpPr/>
          <p:nvPr/>
        </p:nvSpPr>
        <p:spPr>
          <a:xfrm>
            <a:off x="13841611" y="3896678"/>
            <a:ext cx="312301" cy="170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50%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400211" y="4236839"/>
            <a:ext cx="1701998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Promotions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400211" y="4531281"/>
            <a:ext cx="675370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Application partielle sans feedback utilisateur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6488" y="5089446"/>
            <a:ext cx="6481405" cy="170140"/>
          </a:xfrm>
          <a:prstGeom prst="roundRect">
            <a:avLst>
              <a:gd name="adj" fmla="val 12005"/>
            </a:avLst>
          </a:prstGeom>
          <a:solidFill>
            <a:srgbClr val="F2EEEE"/>
          </a:solidFill>
          <a:ln/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488" y="5429607"/>
            <a:ext cx="2286000" cy="228600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476488" y="7868722"/>
            <a:ext cx="6753582" cy="435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Insights clés :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1 échec critique (stock), 2 moyens (profil/promos). Logs d'erreurs complets disponibles en annexe technique.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56" y="409575"/>
            <a:ext cx="6900505" cy="465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Conclusion et Recommandations Prioritaires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56" y="1247418"/>
            <a:ext cx="2234208" cy="279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Points forts identifiés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521256" y="1675686"/>
            <a:ext cx="5914668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Architecture Django claire et scalable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21256" y="1965960"/>
            <a:ext cx="5914668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Base PostgreSQL normalisée avec index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21256" y="2256234"/>
            <a:ext cx="5914668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Tests unitaires haute granularité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21256" y="2546509"/>
            <a:ext cx="5914668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Design mobile-first ergonomique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21256" y="2836783"/>
            <a:ext cx="5914668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CI/CD GitHub Actions opérationnel</a:t>
            </a:r>
            <a:endParaRPr lang="en-US" sz="11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6922" y="1265992"/>
            <a:ext cx="2286000" cy="2286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21256" y="3942874"/>
            <a:ext cx="3023235" cy="279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Actions correctives avec timeline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521256" y="4445556"/>
            <a:ext cx="148947" cy="186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21256" y="4683323"/>
            <a:ext cx="4429958" cy="1524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3" name="Text 10"/>
          <p:cNvSpPr/>
          <p:nvPr/>
        </p:nvSpPr>
        <p:spPr>
          <a:xfrm>
            <a:off x="521256" y="4788218"/>
            <a:ext cx="1861780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Corriger logique stocks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21256" y="5110282"/>
            <a:ext cx="4429958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Décrémentation après commande, transaction atomique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21256" y="5437822"/>
            <a:ext cx="4429958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Priorité 1 • Délai : 1 jour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100161" y="4445556"/>
            <a:ext cx="148947" cy="186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100161" y="4683323"/>
            <a:ext cx="4429958" cy="1524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8" name="Text 15"/>
          <p:cNvSpPr/>
          <p:nvPr/>
        </p:nvSpPr>
        <p:spPr>
          <a:xfrm>
            <a:off x="5100161" y="4788218"/>
            <a:ext cx="2575917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Gestion atomique User/Customer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5100161" y="5110282"/>
            <a:ext cx="4429958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Validation profil avec champs required=True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100161" y="5437822"/>
            <a:ext cx="4429958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Priorité 2 • Délai : 2 jours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9679067" y="4445556"/>
            <a:ext cx="148947" cy="186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679067" y="4683323"/>
            <a:ext cx="4429958" cy="1524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3" name="Text 20"/>
          <p:cNvSpPr/>
          <p:nvPr/>
        </p:nvSpPr>
        <p:spPr>
          <a:xfrm>
            <a:off x="9679067" y="4788218"/>
            <a:ext cx="1959293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Optimisation cache Redis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9679067" y="5110282"/>
            <a:ext cx="4429958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Requêtes SQL avec prefetch_related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9679067" y="5437822"/>
            <a:ext cx="4429958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Priorité 3 • Délai : 3 jours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21256" y="5936694"/>
            <a:ext cx="148947" cy="186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21256" y="6174462"/>
            <a:ext cx="4429958" cy="1524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8" name="Text 25"/>
          <p:cNvSpPr/>
          <p:nvPr/>
        </p:nvSpPr>
        <p:spPr>
          <a:xfrm>
            <a:off x="521256" y="6279356"/>
            <a:ext cx="2049780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Adapter templates par rôle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521256" y="6601420"/>
            <a:ext cx="4429958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Conditions affichage + alt texts accessibilité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21256" y="6928961"/>
            <a:ext cx="4429958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Priorité 4 • Délai : 1 jour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100161" y="5936694"/>
            <a:ext cx="148947" cy="186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05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5100161" y="6174462"/>
            <a:ext cx="4429958" cy="1524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33" name="Text 30"/>
          <p:cNvSpPr/>
          <p:nvPr/>
        </p:nvSpPr>
        <p:spPr>
          <a:xfrm>
            <a:off x="5100161" y="6279356"/>
            <a:ext cx="1861780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Finaliser suite tests</a:t>
            </a:r>
            <a:endParaRPr lang="en-US" sz="1450" dirty="0"/>
          </a:p>
        </p:txBody>
      </p:sp>
      <p:sp>
        <p:nvSpPr>
          <p:cNvPr id="34" name="Text 31"/>
          <p:cNvSpPr/>
          <p:nvPr/>
        </p:nvSpPr>
        <p:spPr>
          <a:xfrm>
            <a:off x="5100161" y="6601420"/>
            <a:ext cx="4429958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 tests concurrency, objectif 90% coverage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5100161" y="6928961"/>
            <a:ext cx="4429958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Priorité 2 • Délai : 1 semaine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9679067" y="5936694"/>
            <a:ext cx="148947" cy="186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06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9679067" y="6174462"/>
            <a:ext cx="4429958" cy="1524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38" name="Text 35"/>
          <p:cNvSpPr/>
          <p:nvPr/>
        </p:nvSpPr>
        <p:spPr>
          <a:xfrm>
            <a:off x="9679067" y="6279356"/>
            <a:ext cx="2169557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Intégrer gestion promotions</a:t>
            </a:r>
            <a:endParaRPr lang="en-US" sz="1450" dirty="0"/>
          </a:p>
        </p:txBody>
      </p:sp>
      <p:sp>
        <p:nvSpPr>
          <p:cNvPr id="39" name="Text 36"/>
          <p:cNvSpPr/>
          <p:nvPr/>
        </p:nvSpPr>
        <p:spPr>
          <a:xfrm>
            <a:off x="9679067" y="6601420"/>
            <a:ext cx="4429958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UI feedback avec validation PromoCodeForm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9679067" y="6928961"/>
            <a:ext cx="4429958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Priorité 3 • Délai : 2 jours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521256" y="7427833"/>
            <a:ext cx="148947" cy="186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07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521256" y="7665601"/>
            <a:ext cx="13587770" cy="1524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43" name="Text 40"/>
          <p:cNvSpPr/>
          <p:nvPr/>
        </p:nvSpPr>
        <p:spPr>
          <a:xfrm>
            <a:off x="521256" y="7770495"/>
            <a:ext cx="13587770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Timeline globale :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Staging prêt dans 5 jours • Production dans 10 jours post-validation • Budget : 40h dev + 10h tests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40388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Annexe Technique : Stack et Outils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35" y="892969"/>
            <a:ext cx="283488" cy="283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6835" y="1318141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Langage &amp; Framework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96835" y="1563291"/>
            <a:ext cx="451770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Python 3.12 / Django 5.1 avec Django REST Framework pour API modulaire</a:t>
            </a:r>
            <a:endParaRPr lang="en-US" sz="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56227" y="892969"/>
            <a:ext cx="283488" cy="2834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56227" y="1318141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Base de données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056227" y="1563291"/>
            <a:ext cx="451782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PostgreSQL 15 avec migrations Alembic-like, index optimisés sur foreign keys</a:t>
            </a:r>
            <a:endParaRPr lang="en-US" sz="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15738" y="892969"/>
            <a:ext cx="283488" cy="2834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738" y="1318141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Outils de test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9715738" y="1563291"/>
            <a:ext cx="451770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pytest 8.0, coverage.py (rapport HTML), Selenium 4.15 headless pour tests fonctionnels</a:t>
            </a:r>
            <a:endParaRPr lang="en-US" sz="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6835" y="1971556"/>
            <a:ext cx="283488" cy="2834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96835" y="239672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CI/CD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396835" y="2641878"/>
            <a:ext cx="451770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GitHub Actions avec matrix Python versions, badges coverage intégrés</a:t>
            </a:r>
            <a:endParaRPr lang="en-US" sz="8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56227" y="1971556"/>
            <a:ext cx="283488" cy="28348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056227" y="239672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Environnement</a:t>
            </a: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5056227" y="2641878"/>
            <a:ext cx="4517827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Ubuntu 22.04 LTS, Docker Compose (app, db, redis), VS Code avec extensions Django/Pytest</a:t>
            </a:r>
            <a:endParaRPr lang="en-US" sz="8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715738" y="1971556"/>
            <a:ext cx="283488" cy="28348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715738" y="239672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20" name="Text 12"/>
          <p:cNvSpPr/>
          <p:nvPr/>
        </p:nvSpPr>
        <p:spPr>
          <a:xfrm>
            <a:off x="9715738" y="2641878"/>
            <a:ext cx="451770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Celery pour tâches asynchrones (emails), Nginx pour static files, Redis pour cache</a:t>
            </a:r>
            <a:endParaRPr lang="en-US" sz="850" dirty="0"/>
          </a:p>
        </p:txBody>
      </p:sp>
      <p:sp>
        <p:nvSpPr>
          <p:cNvPr id="21" name="Shape 13"/>
          <p:cNvSpPr/>
          <p:nvPr/>
        </p:nvSpPr>
        <p:spPr>
          <a:xfrm>
            <a:off x="411004" y="3225879"/>
            <a:ext cx="255032" cy="294799"/>
          </a:xfrm>
          <a:prstGeom prst="roundRect">
            <a:avLst>
              <a:gd name="adj" fmla="val 21513"/>
            </a:avLst>
          </a:prstGeom>
          <a:solidFill>
            <a:srgbClr val="DFDFE0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7678" y="3305294"/>
            <a:ext cx="141684" cy="11334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96835" y="3656767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Structure des tests</a:t>
            </a:r>
            <a:endParaRPr lang="en-US" sz="1300" dirty="0"/>
          </a:p>
        </p:txBody>
      </p:sp>
      <p:sp>
        <p:nvSpPr>
          <p:cNvPr id="24" name="Shape 15"/>
          <p:cNvSpPr/>
          <p:nvPr/>
        </p:nvSpPr>
        <p:spPr>
          <a:xfrm>
            <a:off x="396835" y="3996928"/>
            <a:ext cx="4517708" cy="1984534"/>
          </a:xfrm>
          <a:prstGeom prst="roundRect">
            <a:avLst>
              <a:gd name="adj" fmla="val 857"/>
            </a:avLst>
          </a:prstGeom>
          <a:solidFill>
            <a:srgbClr val="F2F2F2"/>
          </a:solidFill>
          <a:ln/>
        </p:spPr>
      </p:sp>
      <p:sp>
        <p:nvSpPr>
          <p:cNvPr id="25" name="Shape 16"/>
          <p:cNvSpPr/>
          <p:nvPr/>
        </p:nvSpPr>
        <p:spPr>
          <a:xfrm>
            <a:off x="391239" y="3996928"/>
            <a:ext cx="4528899" cy="1984534"/>
          </a:xfrm>
          <a:prstGeom prst="roundRect">
            <a:avLst>
              <a:gd name="adj" fmla="val 857"/>
            </a:avLst>
          </a:prstGeom>
          <a:solidFill>
            <a:srgbClr val="F2F2F2"/>
          </a:solidFill>
          <a:ln/>
        </p:spPr>
      </p:sp>
      <p:sp>
        <p:nvSpPr>
          <p:cNvPr id="26" name="Text 17"/>
          <p:cNvSpPr/>
          <p:nvPr/>
        </p:nvSpPr>
        <p:spPr>
          <a:xfrm>
            <a:off x="504587" y="4081939"/>
            <a:ext cx="430220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tests/├── conftest.py          # Fixtures globales├── test_auth.py         # 5 tests authentification├── test_cart.py         # 4 tests panier├── test_checkout.py     # 3 tests commande├── test_products.py     # 4 tests CRUD vendeur├── test_integration.py  # 6 tests end-to-end├── test_performance.py  # 2 tests charge Locust└── fixtures/            # JSON seeding</a:t>
            </a:r>
            <a:endParaRPr lang="en-US" sz="85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6835" y="6108978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862" y="333018"/>
            <a:ext cx="5702379" cy="378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Recommandation Finale et Prochaines Étapes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862" y="953572"/>
            <a:ext cx="605552" cy="7267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50501" y="1074658"/>
            <a:ext cx="151399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Action Immédiate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50501" y="1336596"/>
            <a:ext cx="13056037" cy="193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Corriger gestion stocks et verrouillages concurrency. Déployer hotfix en dev.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62" y="1680329"/>
            <a:ext cx="605552" cy="72675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50501" y="1801416"/>
            <a:ext cx="151399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Court Terme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1150501" y="2063353"/>
            <a:ext cx="13056037" cy="193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Renforcer tests d'intégration, suite concurrency, atteindre 90% coverage minimum.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62" y="2407087"/>
            <a:ext cx="605552" cy="72675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50501" y="2528173"/>
            <a:ext cx="151399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Stratégique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1150501" y="2790111"/>
            <a:ext cx="13056037" cy="193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Migration vers architecture modulaire : API REST DRF + Front React/Vue, microservices paiements.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862" y="3133844"/>
            <a:ext cx="605552" cy="5294590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0501" y="3254931"/>
            <a:ext cx="2286000" cy="228600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1150501" y="5677138"/>
            <a:ext cx="13056037" cy="1467922"/>
          </a:xfrm>
          <a:prstGeom prst="roundRect">
            <a:avLst>
              <a:gd name="adj" fmla="val 1238"/>
            </a:avLst>
          </a:prstGeom>
          <a:solidFill>
            <a:srgbClr val="B3C3FF"/>
          </a:solidFill>
          <a:ln/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1588" y="5837039"/>
            <a:ext cx="227052" cy="181689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619726" y="5828467"/>
            <a:ext cx="1858566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📅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Suivi et Coordination</a:t>
            </a:r>
            <a:endParaRPr lang="en-US" sz="1400" dirty="0"/>
          </a:p>
        </p:txBody>
      </p:sp>
      <p:sp>
        <p:nvSpPr>
          <p:cNvPr id="17" name="Text 9"/>
          <p:cNvSpPr/>
          <p:nvPr/>
        </p:nvSpPr>
        <p:spPr>
          <a:xfrm>
            <a:off x="1619726" y="6176605"/>
            <a:ext cx="12465725" cy="193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Réunion de review :</a:t>
            </a:r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15 novembre 2025</a:t>
            </a:r>
            <a:endParaRPr lang="en-US" sz="950" dirty="0"/>
          </a:p>
        </p:txBody>
      </p:sp>
      <p:sp>
        <p:nvSpPr>
          <p:cNvPr id="18" name="Text 10"/>
          <p:cNvSpPr/>
          <p:nvPr/>
        </p:nvSpPr>
        <p:spPr>
          <a:xfrm>
            <a:off x="1619726" y="6479262"/>
            <a:ext cx="12465725" cy="193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Nouvel audit :</a:t>
            </a:r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Post-corrections pour validation finale</a:t>
            </a:r>
            <a:endParaRPr lang="en-US" sz="950" dirty="0"/>
          </a:p>
        </p:txBody>
      </p:sp>
      <p:sp>
        <p:nvSpPr>
          <p:cNvPr id="19" name="Text 11"/>
          <p:cNvSpPr/>
          <p:nvPr/>
        </p:nvSpPr>
        <p:spPr>
          <a:xfrm>
            <a:off x="1619726" y="6781919"/>
            <a:ext cx="12465725" cy="193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Contact auditeur :</a:t>
            </a:r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  <a:pPr algn="l" indent="0" marL="0">
              <a:lnSpc>
                <a:spcPts val="1500"/>
              </a:lnSpc>
              <a:buNone/>
            </a:pPr>
            <a:r>
              <a:rPr lang="en-US" sz="950" u="sng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abdel.ouattara@projet.com</a:t>
            </a:r>
            <a:endParaRPr lang="en-US" sz="950" dirty="0"/>
          </a:p>
        </p:txBody>
      </p:sp>
      <p:sp>
        <p:nvSpPr>
          <p:cNvPr id="20" name="Text 12"/>
          <p:cNvSpPr/>
          <p:nvPr/>
        </p:nvSpPr>
        <p:spPr>
          <a:xfrm>
            <a:off x="1332190" y="7281267"/>
            <a:ext cx="1816894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21" name="Text 13"/>
          <p:cNvSpPr/>
          <p:nvPr/>
        </p:nvSpPr>
        <p:spPr>
          <a:xfrm>
            <a:off x="1332190" y="7580948"/>
            <a:ext cx="12874347" cy="387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L'application e-commerce auditée démontre une </a:t>
            </a:r>
            <a:pPr algn="l"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architecture prometteuse</a:t>
            </a:r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avec des fondations solides et un potentiel élevé pour une plateforme scalable. Avant toute mise en ligne, il est </a:t>
            </a:r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FF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impératif de corriger les failles critiques</a:t>
            </a:r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(stocks, sécurité) et d'étendre la couverture de test à 100% sur le parcours de commande.</a:t>
            </a:r>
            <a:endParaRPr lang="en-US" sz="950" dirty="0"/>
          </a:p>
        </p:txBody>
      </p:sp>
      <p:sp>
        <p:nvSpPr>
          <p:cNvPr id="22" name="Text 14"/>
          <p:cNvSpPr/>
          <p:nvPr/>
        </p:nvSpPr>
        <p:spPr>
          <a:xfrm>
            <a:off x="1332190" y="8041005"/>
            <a:ext cx="12874347" cy="193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Avec ces ajustements, l'application atteindra un niveau de </a:t>
            </a:r>
            <a:pPr algn="l"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maturité production-ready</a:t>
            </a:r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minimisant les risques opérationnels et maximisant la satisfaction utilisateur.</a:t>
            </a:r>
            <a:endParaRPr lang="en-US" sz="950" dirty="0"/>
          </a:p>
        </p:txBody>
      </p:sp>
      <p:sp>
        <p:nvSpPr>
          <p:cNvPr id="23" name="Shape 15"/>
          <p:cNvSpPr/>
          <p:nvPr/>
        </p:nvSpPr>
        <p:spPr>
          <a:xfrm>
            <a:off x="1150501" y="7281267"/>
            <a:ext cx="15240" cy="953453"/>
          </a:xfrm>
          <a:prstGeom prst="rect">
            <a:avLst/>
          </a:prstGeom>
          <a:solidFill>
            <a:srgbClr val="2150F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2025-11-10T11:40:43Z</dcterms:created>
  <dcterms:modified xsi:type="dcterms:W3CDTF">2025-11-10T11:40:43Z</dcterms:modified>
</cp:coreProperties>
</file>